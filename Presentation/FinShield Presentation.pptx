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EA1E7-B3C6-4F57-89A8-E2B988B885CD}" v="23" dt="2026-09-03T14:33:58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09775"/>
            <a:ext cx="857250" cy="857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057525"/>
            <a:ext cx="3030378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Poppins"/>
              </a:rPr>
              <a:t>FinShield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05275"/>
            <a:ext cx="5010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7D2FE"/>
                </a:solidFill>
                <a:latin typeface="Lato"/>
              </a:rPr>
              <a:t>Real-Time Fraud Detection &amp; Governance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667250"/>
            <a:ext cx="4610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Lato"/>
              </a:rPr>
              <a:t>Streaming ingestion • PII masking • fraud scoring • automated alerting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33662"/>
            <a:ext cx="3555950" cy="2333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33662"/>
            <a:ext cx="3555950" cy="2333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2633662"/>
            <a:ext cx="3556099" cy="2333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76562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2976562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2976562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866775"/>
            <a:ext cx="1123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Banks process millions of transactions. Fewer than 1 in 150 are fraud — hidden in a sea of normal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6334125"/>
            <a:ext cx="112395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1 — Setting the scene FinShield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690937"/>
            <a:ext cx="7800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oppins"/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167187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Decisions need to happen in near real time, not after the fact.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3225" y="3690937"/>
            <a:ext cx="9401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oppins"/>
              </a:rP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3225" y="4167187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Card numbers and personal data can't be casually exposed while doing this.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4925" y="3690937"/>
            <a:ext cx="6900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oppins"/>
              </a:rPr>
              <a:t>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4925" y="4167187"/>
            <a:ext cx="29655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Fraud is rare — naive detection either misses it or drowns everyone in false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85937"/>
            <a:ext cx="11239500" cy="781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1287"/>
            <a:ext cx="1123950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576637"/>
            <a:ext cx="11239500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471987"/>
            <a:ext cx="11239500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9478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432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7385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63391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What FinShield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334125"/>
            <a:ext cx="112395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1 — Setting the scene FinShield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8275" y="2047875"/>
            <a:ext cx="2286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oppins SemiBold"/>
              </a:rPr>
              <a:t>Data flows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2062162"/>
            <a:ext cx="7753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Real transaction history + a simulated merchant risk feed.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8275" y="2943225"/>
            <a:ext cx="2286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oppins SemiBold"/>
              </a:rPr>
              <a:t>Checked &amp; protected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2957512"/>
            <a:ext cx="7753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Records are validated; sensitive fields are scrambled so no one downstream sees real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8275" y="3838575"/>
            <a:ext cx="2286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oppins SemiBold"/>
              </a:rPr>
              <a:t>Scored in real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275" y="3852862"/>
            <a:ext cx="7753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Every transaction gets a risk score from patterns found in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8275" y="4733925"/>
            <a:ext cx="2286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oppins SemiBold"/>
              </a:rPr>
              <a:t>Flagged &amp; alerted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4748212"/>
            <a:ext cx="7753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High-risk activity lands in a dashboard — and triggers an automatic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66850"/>
            <a:ext cx="11239500" cy="4314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01" y="1619250"/>
            <a:ext cx="5175498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19250"/>
            <a:ext cx="5175498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01" y="2209800"/>
            <a:ext cx="5175498" cy="447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209800"/>
            <a:ext cx="5175498" cy="447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2800350"/>
            <a:ext cx="6477000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0" y="3390900"/>
            <a:ext cx="6477000" cy="447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0" y="3981450"/>
            <a:ext cx="6477000" cy="4476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7500" y="4572000"/>
            <a:ext cx="6477000" cy="447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0929" y="5181600"/>
            <a:ext cx="3108870" cy="4476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5181600"/>
            <a:ext cx="3108870" cy="4476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38100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Pipeline architectural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6334125"/>
            <a:ext cx="112395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2 — Architecture FinShield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9806" y="2095500"/>
            <a:ext cx="5238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"/>
              </a:lnSpc>
            </a:pPr>
            <a:r>
              <a:rPr sz="825" b="0" i="0" u="none">
                <a:solidFill>
                  <a:srgbClr val="94A3B8"/>
                </a:solidFill>
                <a:latin typeface="Lato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9806" y="2686050"/>
            <a:ext cx="5238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"/>
              </a:lnSpc>
            </a:pPr>
            <a:r>
              <a:rPr sz="825" b="0" i="0" u="none">
                <a:solidFill>
                  <a:srgbClr val="94A3B8"/>
                </a:solidFill>
                <a:latin typeface="Lato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9806" y="3276600"/>
            <a:ext cx="5238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"/>
              </a:lnSpc>
            </a:pPr>
            <a:r>
              <a:rPr sz="825" b="0" i="0" u="none">
                <a:solidFill>
                  <a:srgbClr val="94A3B8"/>
                </a:solidFill>
                <a:latin typeface="Lato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9806" y="3867150"/>
            <a:ext cx="5238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"/>
              </a:lnSpc>
            </a:pPr>
            <a:r>
              <a:rPr sz="825" b="0" i="0" u="none">
                <a:solidFill>
                  <a:srgbClr val="94A3B8"/>
                </a:solidFill>
                <a:latin typeface="Lato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9806" y="4457700"/>
            <a:ext cx="5238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"/>
              </a:lnSpc>
            </a:pPr>
            <a:r>
              <a:rPr sz="825" b="0" i="0" u="none">
                <a:solidFill>
                  <a:srgbClr val="94A3B8"/>
                </a:solidFill>
                <a:latin typeface="Lato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0" y="5048250"/>
            <a:ext cx="64770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Lato"/>
              </a:rPr>
              <a:t>↓↓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126" y="1685925"/>
            <a:ext cx="492784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Poppins SemiBold"/>
              </a:rPr>
              <a:t>Kaggle transaction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126" y="1885950"/>
            <a:ext cx="49278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1E293B"/>
                </a:solidFill>
                <a:latin typeface="Lato"/>
              </a:rPr>
              <a:t>Historical, replayed as 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6025" y="1685925"/>
            <a:ext cx="492784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Poppins SemiBold"/>
              </a:rPr>
              <a:t>Faker merchant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6025" y="1885950"/>
            <a:ext cx="49278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1E293B"/>
                </a:solidFill>
                <a:latin typeface="Lato"/>
              </a:rPr>
              <a:t>Synthetic risk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126" y="2276475"/>
            <a:ext cx="492784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3A8A"/>
                </a:solidFill>
                <a:latin typeface="Poppins SemiBold"/>
              </a:rPr>
              <a:t>Kafka producer (Python)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126" y="2476500"/>
            <a:ext cx="49278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1E3A8A"/>
                </a:solidFill>
                <a:latin typeface="Lato"/>
              </a:rPr>
              <a:t>Streams transaction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6025" y="2276475"/>
            <a:ext cx="492784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369A1"/>
                </a:solidFill>
                <a:latin typeface="Poppins SemiBold"/>
              </a:rPr>
              <a:t>Apache NiFi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6025" y="2476500"/>
            <a:ext cx="49278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369A1"/>
                </a:solidFill>
                <a:latin typeface="Lato"/>
              </a:rPr>
              <a:t>Validates and routes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325" y="2867025"/>
            <a:ext cx="622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3A8A"/>
                </a:solidFill>
                <a:latin typeface="Poppins SemiBold"/>
              </a:rPr>
              <a:t>Apache Kafka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1325" y="3067050"/>
            <a:ext cx="62293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1E3A8A"/>
                </a:solidFill>
                <a:latin typeface="Lato"/>
              </a:rPr>
              <a:t>The pipe everything flows through (raw.transactions + raw.merchant_updates)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1325" y="3457575"/>
            <a:ext cx="622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65F46"/>
                </a:solidFill>
                <a:latin typeface="Poppins SemiBold"/>
              </a:rPr>
              <a:t>PySpark Structured 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1325" y="3657600"/>
            <a:ext cx="62293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65F46"/>
                </a:solidFill>
                <a:latin typeface="Lato"/>
              </a:rPr>
              <a:t>Combines sources, masks PII, scores fraud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1325" y="4048125"/>
            <a:ext cx="622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730A3"/>
                </a:solidFill>
                <a:latin typeface="Poppins SemiBold"/>
              </a:rPr>
              <a:t>Snowflake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1325" y="4248150"/>
            <a:ext cx="62293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3730A3"/>
                </a:solidFill>
                <a:latin typeface="Lato"/>
              </a:rPr>
              <a:t>Bronze → Silver → Gold (raw → cleaned → analytics-ready)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1325" y="4638675"/>
            <a:ext cx="622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A3412"/>
                </a:solidFill>
                <a:latin typeface="Poppins SemiBold"/>
              </a:rPr>
              <a:t>dbt + Apache Airflow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1325" y="4838700"/>
            <a:ext cx="62293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A3412"/>
                </a:solidFill>
                <a:latin typeface="Lato"/>
              </a:rPr>
              <a:t>Reshapes data for reporting, runs on schedule, sends alert emails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4754" y="5248275"/>
            <a:ext cx="286122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831843"/>
                </a:solidFill>
                <a:latin typeface="Poppins SemiBold"/>
              </a:rPr>
              <a:t>Power 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4754" y="5448300"/>
            <a:ext cx="286122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831843"/>
                </a:solidFill>
                <a:latin typeface="Lato"/>
              </a:rPr>
              <a:t>Dashboard for human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6025" y="5248275"/>
            <a:ext cx="286122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78350F"/>
                </a:solidFill>
                <a:latin typeface="Poppins SemiBold"/>
              </a:rPr>
              <a:t>Email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6025" y="5448300"/>
            <a:ext cx="286122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78350F"/>
                </a:solidFill>
                <a:latin typeface="Lato"/>
              </a:rPr>
              <a:t>Automated security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74676"/>
            <a:ext cx="2619375" cy="16305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174676"/>
            <a:ext cx="2619375" cy="16305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74676"/>
            <a:ext cx="2619375" cy="16305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174676"/>
            <a:ext cx="2619375" cy="16305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5737"/>
            <a:ext cx="2619375" cy="16305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375" y="3995737"/>
            <a:ext cx="2619375" cy="16305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995737"/>
            <a:ext cx="2619375" cy="16305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3995737"/>
            <a:ext cx="2619375" cy="163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E293B"/>
                </a:solidFill>
                <a:latin typeface="Poppins"/>
              </a:rPr>
              <a:t>Architecture, tool by tool</a:t>
            </a:r>
            <a:endParaRPr lang="en-US" sz="2900" dirty="0">
              <a:solidFill>
                <a:srgbClr val="000000"/>
              </a:solidFill>
              <a:latin typeface="Poppins"/>
            </a:endParaRPr>
          </a:p>
          <a:p>
            <a:pPr algn="l"/>
            <a:endParaRPr sz="2850" b="1" i="0" u="none" dirty="0">
              <a:solidFill>
                <a:srgbClr val="1E293B"/>
              </a:solidFill>
              <a:latin typeface="Poppins"/>
              <a:cs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1162050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End-to-end flow from live data ingestion to warehouse storage and dashboard 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23887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2 — Architecture FinShield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1136" y="2879526"/>
            <a:ext cx="82010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oppins"/>
              </a:rPr>
              <a:t>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193851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Lato"/>
              </a:rPr>
              <a:t>Kaggle &amp; NiFi feeds stream via Python producers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5980" y="2879526"/>
            <a:ext cx="131016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oppins"/>
              </a:rPr>
              <a:t>Streaming 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193851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Lato"/>
              </a:rPr>
              <a:t>Apache Kafka buffers and routes live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878" y="2879526"/>
            <a:ext cx="94011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193851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 err="1">
                <a:solidFill>
                  <a:srgbClr val="64748B"/>
                </a:solidFill>
                <a:latin typeface="Lato"/>
              </a:rPr>
              <a:t>PySpark</a:t>
            </a:r>
            <a:r>
              <a:rPr sz="1050" b="0" i="0" u="none" dirty="0">
                <a:solidFill>
                  <a:srgbClr val="64748B"/>
                </a:solidFill>
                <a:latin typeface="Lato"/>
              </a:rPr>
              <a:t> masks PII and applies real-time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751" y="2879526"/>
            <a:ext cx="98012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1150" y="3193851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64748B"/>
                </a:solidFill>
                <a:latin typeface="Lato"/>
              </a:rPr>
              <a:t>Snowflake stores multi-layer cleaned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6100" y="4700587"/>
            <a:ext cx="139017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5014912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 err="1">
                <a:solidFill>
                  <a:srgbClr val="64748B"/>
                </a:solidFill>
                <a:latin typeface="Lato"/>
              </a:rPr>
              <a:t>dbt</a:t>
            </a:r>
            <a:r>
              <a:rPr sz="1050" b="0" i="0" u="none" dirty="0">
                <a:solidFill>
                  <a:srgbClr val="64748B"/>
                </a:solidFill>
                <a:latin typeface="Lato"/>
              </a:rPr>
              <a:t> models business logic for reporting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0986" y="4700587"/>
            <a:ext cx="12201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1400" y="5014912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64748B"/>
                </a:solidFill>
                <a:latin typeface="Lato"/>
              </a:rPr>
              <a:t>Airflow automates scheduling and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893" y="4700587"/>
            <a:ext cx="7000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Alerting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5014912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64748B"/>
                </a:solidFill>
                <a:latin typeface="Lato"/>
              </a:rPr>
              <a:t>Automated notifications trigger for flagged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5740" y="4700587"/>
            <a:ext cx="11501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E293B"/>
                </a:solidFill>
                <a:latin typeface="Poppins"/>
              </a:rP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1150" y="5014912"/>
            <a:ext cx="22193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64748B"/>
                </a:solidFill>
                <a:latin typeface="Lato"/>
              </a:rPr>
              <a:t>Power BI surfaces dashboards for analysts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2125" y="2450901"/>
            <a:ext cx="238125" cy="2667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4375" y="2450901"/>
            <a:ext cx="333375" cy="266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7587" y="2450901"/>
            <a:ext cx="266700" cy="2667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7462" y="2450901"/>
            <a:ext cx="266700" cy="2667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7837" y="4271962"/>
            <a:ext cx="266700" cy="2667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7712" y="4271962"/>
            <a:ext cx="266700" cy="2667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1875" y="4271962"/>
            <a:ext cx="238125" cy="2667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58412" y="4271962"/>
            <a:ext cx="3048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4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183308"/>
            <a:ext cx="5505450" cy="165705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183308"/>
            <a:ext cx="5505450" cy="16570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068960"/>
            <a:ext cx="5505450" cy="14437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068960"/>
            <a:ext cx="5505450" cy="1443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962025"/>
            <a:ext cx="1123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What the data told us before we built any detection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334125"/>
            <a:ext cx="112395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3 — Results FinShield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478583"/>
            <a:ext cx="472440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F5C5C"/>
                </a:solidFill>
                <a:latin typeface="Poppins"/>
              </a:rPr>
              <a:t>0.58%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118544"/>
            <a:ext cx="47244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of transactions are fraud — confirms this is a needle-in-haystack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2585144"/>
            <a:ext cx="472440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F5C5C"/>
                </a:solidFill>
                <a:latin typeface="Poppins"/>
              </a:rPr>
              <a:t>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225105"/>
            <a:ext cx="47244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larger — fraud transactions average $531 vs. $68 for legitimate 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4364235"/>
            <a:ext cx="472440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F5C5C"/>
                </a:solidFill>
                <a:latin typeface="Poppins"/>
              </a:rPr>
              <a:t>70–90x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5004196"/>
            <a:ext cx="47244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higher fraud rate for high-amount-flagged transactions vs.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429869"/>
            <a:ext cx="4724400" cy="460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FF5C5C"/>
                </a:solidFill>
                <a:latin typeface="Poppins"/>
              </a:rPr>
              <a:t>Age 65+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986039"/>
            <a:ext cx="47244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shows the highest fraud rate; 18–25 the lowest — a clear age gradient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014" y="2247900"/>
            <a:ext cx="4935735" cy="2847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47900"/>
            <a:ext cx="2866132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882" y="2247900"/>
            <a:ext cx="2866132" cy="2847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8100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Does it actually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334125"/>
            <a:ext cx="112395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Lato"/>
              </a:rPr>
              <a:t>Section 3 — Results FinShield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5289" y="2543175"/>
            <a:ext cx="456244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oppins"/>
              </a:rPr>
              <a:t>Why this is a deliberate trade-off, not a weakness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003" y="2724768"/>
            <a:ext cx="13885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FFFFF"/>
                </a:solidFill>
                <a:latin typeface="Poppins"/>
              </a:rPr>
              <a:t>8.87%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8316" y="3657600"/>
            <a:ext cx="77189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7D2FE"/>
                </a:solidFill>
                <a:latin typeface="Poppin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010025"/>
            <a:ext cx="248513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Lato"/>
              </a:rPr>
              <a:t>Of everything flagged, ~9 in 100 were real fraud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4527" y="2754457"/>
            <a:ext cx="1543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FFFFF"/>
                </a:solidFill>
                <a:latin typeface="Poppins"/>
              </a:rPr>
              <a:t>64.84%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4573" y="3657600"/>
            <a:ext cx="69285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7D2FE"/>
                </a:solidFill>
                <a:latin typeface="Poppin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382" y="4010025"/>
            <a:ext cx="248513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Lato"/>
              </a:rPr>
              <a:t>Of all real fraud, we caught about 65 out of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0064" y="3257550"/>
            <a:ext cx="85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5789" y="3257550"/>
            <a:ext cx="4154685" cy="4000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Fraud is rare — under 1% of transactions. Even a useful detector generates false alarms relative to how few real fraud cases exist.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0064" y="3771900"/>
            <a:ext cx="85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5789" y="3771900"/>
            <a:ext cx="4154685" cy="4000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This system leans toward catching more real fraud, even at the cost of more false alarms.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0064" y="4286250"/>
            <a:ext cx="85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5789" y="4286250"/>
            <a:ext cx="4154685" cy="4000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Missing real fraud is usually far more costly than a human reviewing a false alarm for two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386012"/>
            <a:ext cx="1143000" cy="3810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5802" y="2995612"/>
            <a:ext cx="316039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Poppin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9462" y="4186237"/>
            <a:ext cx="5553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7D2FE"/>
                </a:solidFill>
                <a:latin typeface="Lato"/>
              </a:rPr>
              <a:t>Producer → NiFi → Spark → Snowflake → Airflow alert →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1666875"/>
            <a:ext cx="857250" cy="857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0779" y="2905125"/>
            <a:ext cx="3530441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4095750"/>
            <a:ext cx="6667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7D2FE"/>
                </a:solidFill>
                <a:latin typeface="Lato"/>
              </a:rPr>
              <a:t>Questions or feedback? Let's connect and discuss secure real-time fraud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9175" y="5010150"/>
            <a:ext cx="25336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94A3B8"/>
                </a:solidFill>
                <a:latin typeface="Lato"/>
              </a:rPr>
              <a:t>FinShield</a:t>
            </a:r>
            <a:r>
              <a:rPr sz="1200" b="0" i="0" u="none" dirty="0">
                <a:solidFill>
                  <a:srgbClr val="94A3B8"/>
                </a:solidFill>
                <a:latin typeface="Lato"/>
              </a:rPr>
              <a:t> Architecture &amp; Pipeline</a:t>
            </a:r>
            <a:endParaRPr lang="en-US" sz="1200" b="0" i="0" u="none" dirty="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14</cp:revision>
  <dcterms:created xsi:type="dcterms:W3CDTF">2013-01-27T09:14:16Z</dcterms:created>
  <dcterms:modified xsi:type="dcterms:W3CDTF">2026-09-03T17:44:40Z</dcterms:modified>
  <cp:category/>
</cp:coreProperties>
</file>